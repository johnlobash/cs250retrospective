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F20C-8490-EE5D-7C57-272E7F461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A5F0F-615C-6D0C-F303-8BB58150D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04F74-9C86-6D4F-739B-3833964A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7DD34-E0AF-2552-A9BE-E594BC20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A97BF-8680-8F76-84C6-D4A30698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4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F335-9F38-9314-F8F6-510A5F92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24F1B-28B2-E92B-4A21-3B4B38032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8F870-63FF-72A2-407C-86A270293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724E8-2B27-55F2-5085-93996290D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DE11E-8299-7B2D-548D-4EF33508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69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8AAF-9D9A-0730-CA30-1DBA6B1E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2F14-012A-0A40-28F7-C9A4A0E5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A0B78-E5E0-3A07-0B1D-327CF3FC0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2F71B-1B2D-E7F3-FE52-9E299555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34D21-5813-72FD-E38F-EE366DDB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4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950F-0CBC-60B7-E5E4-AD315650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6C822-6A63-AB9B-CBD9-F76A350B6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32556-26A0-8E4C-5324-BB62EDEF1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27565-061B-49BB-074D-4609964C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CFB97-E500-9635-A6D3-20AE6EAC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DF6F2-53F2-BD17-73F2-3991523C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12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914A-1525-35A3-9F53-D9D573FA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97FEA-119F-3D73-8D24-AA677A607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8A546-2C4E-E371-A801-48F2D1A55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26502-FF15-0699-9EF4-319BC9008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BBEC73-88C6-E2F1-75A6-932E33CFF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83E94B-2B43-6FDB-1BFC-FC781803C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B6B83D-82B1-F063-294B-FEA2DF3C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6A02E-BBCC-E788-8CD4-E92C7014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7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14BC-9169-B197-B58A-BC2A73601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D5869-13B8-073F-FB08-187675851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2CA22-71BF-8408-16F9-AF72D81C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C04CC-6140-9A29-1103-1344B78B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4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4D261-712A-47C7-F518-0B777E382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FD431-1A52-31D7-DEAE-78952A36B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D96F2-E07E-20A8-5E34-E920FCD5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0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DB36-72C6-3211-C348-CE0C4414F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B5CDD-0D5C-B433-AB36-23B2D3EDB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7283C-22CD-485B-4C9A-76FD70882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7251E-D292-9C46-DD01-562E2495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80DDD-BD5A-0956-197A-1F775B227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FABBE-3AD0-C6D3-71DE-474E83F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4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8299-AD38-2F80-0D61-6EEBD1FD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05915-1A65-7A98-45CE-FE8C21124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B794D-8837-A4F8-7BE8-F1FA4BEE7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92EB8-5824-C5CE-0524-631AE8C5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77C22-084E-ED49-92A4-CDFB4E5C8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65A82-D8C8-B727-9106-E944FD9B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3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C6AA-2EA0-751B-078E-CD3A4DD69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5B8D0-28C5-4230-2FF1-29B5AD282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5261D-750F-5BE2-62A7-96B4249B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98DCA-82A3-7E20-6F61-705CD117E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942C4-5C58-39C0-B8AF-179AB12B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8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391AF-E103-4B66-B63E-DD05B7AB3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DA103-B485-9FF3-5801-1EAE441A5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31B8A-A5E2-9974-9631-A0B57E8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5A860-EEBE-CD79-11FB-A9B77314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9595-D8D3-7B6A-58A1-A28A35CC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8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7653A-5739-7714-AB18-3F9B34F7D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68287-9817-46D6-E116-55447F2C8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BED68-287F-B593-5278-1DF7E2E49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F3795-AD94-48D5-971F-01CA58EDA75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12136-3B6B-20EA-1D25-E9FCE2E37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F16DB-F0F3-03D6-B474-950D8DB8F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CEC020-4CAB-42F6-8F23-E119156C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" TargetMode="External"/><Relationship Id="rId2" Type="http://schemas.openxmlformats.org/officeDocument/2006/relationships/hyperlink" Target="https://hbr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DD625-43A9-1E84-FF40-0CA3B4D822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Agile Project Management 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886A9-24C1-45F7-36F2-F7F38DA14C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Principles, Frameworks, and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D5AAA5-3ABC-DFA6-FB36-2B5AFE382467}"/>
              </a:ext>
            </a:extLst>
          </p:cNvPr>
          <p:cNvSpPr txBox="1"/>
          <p:nvPr/>
        </p:nvSpPr>
        <p:spPr>
          <a:xfrm>
            <a:off x="4260574" y="5373757"/>
            <a:ext cx="321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Jonathan Lobash</a:t>
            </a:r>
          </a:p>
        </p:txBody>
      </p:sp>
    </p:spTree>
    <p:extLst>
      <p:ext uri="{BB962C8B-B14F-4D97-AF65-F5344CB8AC3E}">
        <p14:creationId xmlns:p14="http://schemas.microsoft.com/office/powerpoint/2010/main" val="173964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693A-F177-E743-43D4-B3D1B8AE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Agile?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2ADB1-4D1D-0624-DBEF-EBE122549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Agile is an iterative and flexible approach to project management and software development that emphasizes collaboration, customer feedback, and continuous improvement.</a:t>
            </a:r>
          </a:p>
          <a:p>
            <a:r>
              <a:rPr lang="en-US" dirty="0"/>
              <a:t>Key ideas:</a:t>
            </a:r>
          </a:p>
          <a:p>
            <a:pPr lvl="1"/>
            <a:r>
              <a:rPr lang="en-US" dirty="0"/>
              <a:t>Developed from the Agile Manifesto (values + principles) </a:t>
            </a:r>
          </a:p>
          <a:p>
            <a:pPr lvl="1"/>
            <a:r>
              <a:rPr lang="en-US" dirty="0"/>
              <a:t>Focuses on delivering small, functional increments </a:t>
            </a:r>
          </a:p>
          <a:p>
            <a:pPr lvl="1"/>
            <a:r>
              <a:rPr lang="en-US" dirty="0"/>
              <a:t>Encourages adaptability to changing requirements </a:t>
            </a:r>
          </a:p>
          <a:p>
            <a:pPr lvl="1"/>
            <a:r>
              <a:rPr lang="en-US" dirty="0"/>
              <a:t>Prioritizes working results over heavy documentation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79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915A6-4F33-0DC9-2E75-9CB88D26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Agile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1A8D9-A2EF-8F06-DB46-BE134C793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Agile is guided by 4 main values:</a:t>
            </a:r>
          </a:p>
          <a:p>
            <a:pPr lvl="1"/>
            <a:r>
              <a:rPr lang="en-US" dirty="0"/>
              <a:t>Individuals and interactions over processes and tools </a:t>
            </a:r>
          </a:p>
          <a:p>
            <a:pPr lvl="1"/>
            <a:r>
              <a:rPr lang="en-US" dirty="0"/>
              <a:t>Working software over comprehensive documentation </a:t>
            </a:r>
          </a:p>
          <a:p>
            <a:pPr lvl="1"/>
            <a:r>
              <a:rPr lang="en-US" dirty="0"/>
              <a:t>Customer collaboration over contract negotiation </a:t>
            </a:r>
          </a:p>
          <a:p>
            <a:pPr lvl="1"/>
            <a:r>
              <a:rPr lang="en-US" dirty="0"/>
              <a:t>Responding to change over following a plan </a:t>
            </a:r>
          </a:p>
          <a:p>
            <a:pPr marL="0" indent="0">
              <a:buNone/>
            </a:pPr>
            <a:r>
              <a:rPr lang="en-US" dirty="0"/>
              <a:t>Other important principles:</a:t>
            </a:r>
          </a:p>
          <a:p>
            <a:pPr lvl="1"/>
            <a:r>
              <a:rPr lang="en-US" dirty="0"/>
              <a:t>Deliver value early and continuously </a:t>
            </a:r>
          </a:p>
          <a:p>
            <a:pPr lvl="1"/>
            <a:r>
              <a:rPr lang="en-US" dirty="0"/>
              <a:t>Break work into small iterations (sprints) </a:t>
            </a:r>
          </a:p>
          <a:p>
            <a:pPr lvl="1"/>
            <a:r>
              <a:rPr lang="en-US" dirty="0"/>
              <a:t>Regular feedback from stakeholders </a:t>
            </a:r>
          </a:p>
          <a:p>
            <a:pPr lvl="1"/>
            <a:r>
              <a:rPr lang="en-US" dirty="0"/>
              <a:t>Continuous improvement through reflection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48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DA33-9416-5645-F900-C97D6F57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3E228-624C-877A-34D7-F6FC0B0C4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Scrum is a popular Agile framework used to manage complex projects.</a:t>
            </a:r>
          </a:p>
          <a:p>
            <a:pPr marL="0" indent="0">
              <a:buNone/>
            </a:pPr>
            <a:r>
              <a:rPr lang="en-US" dirty="0"/>
              <a:t>Key components:</a:t>
            </a:r>
          </a:p>
          <a:p>
            <a:r>
              <a:rPr lang="en-US" dirty="0"/>
              <a:t>Roles: </a:t>
            </a:r>
          </a:p>
          <a:p>
            <a:pPr lvl="1"/>
            <a:r>
              <a:rPr lang="en-US" dirty="0"/>
              <a:t>Product Owner (defines priorities) </a:t>
            </a:r>
          </a:p>
          <a:p>
            <a:pPr lvl="1"/>
            <a:r>
              <a:rPr lang="en-US" dirty="0"/>
              <a:t>Scrum Master (removes obstacles) </a:t>
            </a:r>
          </a:p>
          <a:p>
            <a:pPr lvl="1"/>
            <a:r>
              <a:rPr lang="en-US" dirty="0"/>
              <a:t>Development Team (builds the product) </a:t>
            </a:r>
          </a:p>
          <a:p>
            <a:r>
              <a:rPr lang="en-US" dirty="0"/>
              <a:t>Events: </a:t>
            </a:r>
          </a:p>
          <a:p>
            <a:pPr lvl="1"/>
            <a:r>
              <a:rPr lang="en-US" dirty="0"/>
              <a:t>Sprint Planning </a:t>
            </a:r>
          </a:p>
          <a:p>
            <a:pPr lvl="1"/>
            <a:r>
              <a:rPr lang="en-US" dirty="0"/>
              <a:t>Daily Stand-ups </a:t>
            </a:r>
          </a:p>
          <a:p>
            <a:pPr lvl="1"/>
            <a:r>
              <a:rPr lang="en-US" dirty="0"/>
              <a:t>Sprint Review </a:t>
            </a:r>
          </a:p>
          <a:p>
            <a:pPr lvl="1"/>
            <a:r>
              <a:rPr lang="en-US" dirty="0"/>
              <a:t>Sprint Retrospective </a:t>
            </a:r>
          </a:p>
          <a:p>
            <a:r>
              <a:rPr lang="en-US" dirty="0"/>
              <a:t>Artifacts: </a:t>
            </a:r>
          </a:p>
          <a:p>
            <a:pPr lvl="1"/>
            <a:r>
              <a:rPr lang="en-US" dirty="0"/>
              <a:t>Product Backlog </a:t>
            </a:r>
          </a:p>
          <a:p>
            <a:pPr lvl="1"/>
            <a:r>
              <a:rPr lang="en-US" dirty="0"/>
              <a:t>Sprint Backlog </a:t>
            </a:r>
          </a:p>
          <a:p>
            <a:pPr lvl="1"/>
            <a:r>
              <a:rPr lang="en-US" dirty="0"/>
              <a:t>Increment</a:t>
            </a:r>
          </a:p>
        </p:txBody>
      </p:sp>
    </p:spTree>
    <p:extLst>
      <p:ext uri="{BB962C8B-B14F-4D97-AF65-F5344CB8AC3E}">
        <p14:creationId xmlns:p14="http://schemas.microsoft.com/office/powerpoint/2010/main" val="158325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ADEA-1DB5-5BAC-9641-B32164776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and Challenges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E8BF6-E0AC-60E9-6225-12F1F8492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Benefits:</a:t>
            </a:r>
          </a:p>
          <a:p>
            <a:pPr lvl="1"/>
            <a:r>
              <a:rPr lang="en-US" dirty="0"/>
              <a:t>Faster delivery of products </a:t>
            </a:r>
          </a:p>
          <a:p>
            <a:pPr lvl="1"/>
            <a:r>
              <a:rPr lang="en-US" dirty="0"/>
              <a:t>Improved customer satisfaction </a:t>
            </a:r>
          </a:p>
          <a:p>
            <a:pPr lvl="1"/>
            <a:r>
              <a:rPr lang="en-US" dirty="0"/>
              <a:t>Flexibility to change requirements </a:t>
            </a:r>
          </a:p>
          <a:p>
            <a:pPr lvl="1"/>
            <a:r>
              <a:rPr lang="en-US" dirty="0"/>
              <a:t>Better team collaboration </a:t>
            </a:r>
          </a:p>
          <a:p>
            <a:pPr marL="0" indent="0">
              <a:buNone/>
            </a:pPr>
            <a:r>
              <a:rPr lang="en-US" dirty="0"/>
              <a:t>Challenges:</a:t>
            </a:r>
          </a:p>
          <a:p>
            <a:pPr lvl="1"/>
            <a:r>
              <a:rPr lang="en-US" dirty="0"/>
              <a:t>Requires strong communication </a:t>
            </a:r>
          </a:p>
          <a:p>
            <a:pPr lvl="1"/>
            <a:r>
              <a:rPr lang="en-US" dirty="0"/>
              <a:t>Less predictable timelines </a:t>
            </a:r>
          </a:p>
          <a:p>
            <a:pPr lvl="1"/>
            <a:r>
              <a:rPr lang="en-US" dirty="0"/>
              <a:t>Can be difficult for large, complex organizations </a:t>
            </a:r>
          </a:p>
          <a:p>
            <a:pPr lvl="1"/>
            <a:r>
              <a:rPr lang="en-US" dirty="0"/>
              <a:t>Needs experienced team members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42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97E-6DDF-8CBE-9229-96C1E63FB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E629C8-4474-8935-24C3-EBB3F880AA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79869"/>
            <a:ext cx="996400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Management Institute. (2021).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practice guide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PMI.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Rigby, D. K., Sutherland, J., &amp; Takeuchi, H. (2020). Embracing Agile.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Harvard Business Review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https://hbr.org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VersionOne / Digital.ai. (2023).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of Agile report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https://stateofagile.com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Kuhrmann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M., et al. (2021). What makes Agile software development agile?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Empirical Software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https://doi.org/10.1007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5797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318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Agile Project Management Methodology</vt:lpstr>
      <vt:lpstr>What is Agile?</vt:lpstr>
      <vt:lpstr>Core Agile Principles</vt:lpstr>
      <vt:lpstr>Scrum Framework</vt:lpstr>
      <vt:lpstr>Benefits and Challenges of Agile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Lobash, Jonathan</dc:creator>
  <cp:lastModifiedBy>Lobash, Jonathan</cp:lastModifiedBy>
  <cp:revision>9</cp:revision>
  <dcterms:created xsi:type="dcterms:W3CDTF">2026-04-16T21:39:03Z</dcterms:created>
  <dcterms:modified xsi:type="dcterms:W3CDTF">2026-04-17T21:33:35Z</dcterms:modified>
</cp:coreProperties>
</file>